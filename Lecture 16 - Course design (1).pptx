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0"/>
  </p:notesMasterIdLst>
  <p:sldIdLst>
    <p:sldId id="2379" r:id="rId2"/>
    <p:sldId id="2395" r:id="rId3"/>
    <p:sldId id="2396" r:id="rId4"/>
    <p:sldId id="2397" r:id="rId5"/>
    <p:sldId id="2398" r:id="rId6"/>
    <p:sldId id="2373" r:id="rId7"/>
    <p:sldId id="2393" r:id="rId8"/>
    <p:sldId id="239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1" autoAdjust="0"/>
    <p:restoredTop sz="76835" autoAdjust="0"/>
  </p:normalViewPr>
  <p:slideViewPr>
    <p:cSldViewPr snapToGrid="0">
      <p:cViewPr varScale="1">
        <p:scale>
          <a:sx n="88" d="100"/>
          <a:sy n="88" d="100"/>
        </p:scale>
        <p:origin x="3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170E78-D842-4D90-8EEE-2767C9ED93CE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D5326-02B9-4847-966E-3D3580519B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002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905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Can I play it???</a:t>
            </a:r>
          </a:p>
          <a:p>
            <a:r>
              <a:rPr lang="en-US" altLang="zh-TW" dirty="0"/>
              <a:t>====</a:t>
            </a:r>
          </a:p>
          <a:p>
            <a:r>
              <a:rPr lang="en-US" altLang="zh-TW" dirty="0"/>
              <a:t>Widely studies: </a:t>
            </a:r>
          </a:p>
          <a:p>
            <a:pPr lvl="1"/>
            <a:r>
              <a:rPr lang="en-US" altLang="zh-TW" dirty="0"/>
              <a:t>Gym: https://gym.openai.com/ </a:t>
            </a:r>
          </a:p>
          <a:p>
            <a:pPr lvl="1"/>
            <a:r>
              <a:rPr lang="en-US" altLang="zh-TW" dirty="0"/>
              <a:t>Universe: https://openai.com/blog/universe/</a:t>
            </a:r>
          </a:p>
          <a:p>
            <a:pPr lvl="1"/>
            <a:endParaRPr lang="en-US" altLang="zh-TW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Machine learns to play video games as human players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What machine observes is pixels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Machine learns to take proper action itself</a:t>
            </a:r>
            <a:endParaRPr lang="zh-TW" altLang="en-US" sz="1200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pPr lvl="1"/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09E6A-ABDF-4E16-B6CE-071B50FB0C3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1662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Can I play it???</a:t>
            </a:r>
          </a:p>
          <a:p>
            <a:r>
              <a:rPr lang="en-US" altLang="zh-TW" dirty="0"/>
              <a:t>====</a:t>
            </a:r>
          </a:p>
          <a:p>
            <a:r>
              <a:rPr lang="en-US" altLang="zh-TW" dirty="0"/>
              <a:t>Widely studies: </a:t>
            </a:r>
          </a:p>
          <a:p>
            <a:pPr lvl="1"/>
            <a:r>
              <a:rPr lang="en-US" altLang="zh-TW" dirty="0"/>
              <a:t>Gym: https://gym.openai.com/ </a:t>
            </a:r>
          </a:p>
          <a:p>
            <a:pPr lvl="1"/>
            <a:r>
              <a:rPr lang="en-US" altLang="zh-TW" dirty="0"/>
              <a:t>Universe: https://openai.com/blog/universe/</a:t>
            </a:r>
          </a:p>
          <a:p>
            <a:pPr lvl="1"/>
            <a:endParaRPr lang="en-US" altLang="zh-TW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Machine learns to play video games as human players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What machine observes is pixels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Machine learns to take proper action itself</a:t>
            </a:r>
            <a:endParaRPr lang="zh-TW" altLang="en-US" sz="1200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pPr lvl="1"/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09E6A-ABDF-4E16-B6CE-071B50FB0C3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6912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Can I play it???</a:t>
            </a:r>
          </a:p>
          <a:p>
            <a:r>
              <a:rPr lang="en-US" altLang="zh-TW" dirty="0"/>
              <a:t>====</a:t>
            </a:r>
          </a:p>
          <a:p>
            <a:r>
              <a:rPr lang="en-US" altLang="zh-TW" dirty="0"/>
              <a:t>Widely studies: </a:t>
            </a:r>
          </a:p>
          <a:p>
            <a:pPr lvl="1"/>
            <a:r>
              <a:rPr lang="en-US" altLang="zh-TW" dirty="0"/>
              <a:t>Gym: https://gym.openai.com/ </a:t>
            </a:r>
          </a:p>
          <a:p>
            <a:pPr lvl="1"/>
            <a:r>
              <a:rPr lang="en-US" altLang="zh-TW" dirty="0"/>
              <a:t>Universe: https://openai.com/blog/universe/</a:t>
            </a:r>
          </a:p>
          <a:p>
            <a:pPr lvl="1"/>
            <a:endParaRPr lang="en-US" altLang="zh-TW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Machine learns to play video games as human players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What machine observes is pixels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Machine learns to take proper action itself</a:t>
            </a:r>
            <a:endParaRPr lang="zh-TW" altLang="en-US" sz="1200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pPr lvl="1"/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09E6A-ABDF-4E16-B6CE-071B50FB0C3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7465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Can I play it???</a:t>
            </a:r>
          </a:p>
          <a:p>
            <a:r>
              <a:rPr lang="en-US" altLang="zh-TW" dirty="0"/>
              <a:t>====</a:t>
            </a:r>
          </a:p>
          <a:p>
            <a:r>
              <a:rPr lang="en-US" altLang="zh-TW" dirty="0"/>
              <a:t>Widely studies: </a:t>
            </a:r>
          </a:p>
          <a:p>
            <a:pPr lvl="1"/>
            <a:r>
              <a:rPr lang="en-US" altLang="zh-TW" dirty="0"/>
              <a:t>Gym: https://gym.openai.com/ </a:t>
            </a:r>
          </a:p>
          <a:p>
            <a:pPr lvl="1"/>
            <a:r>
              <a:rPr lang="en-US" altLang="zh-TW" dirty="0"/>
              <a:t>Universe: https://openai.com/blog/universe/</a:t>
            </a:r>
          </a:p>
          <a:p>
            <a:pPr lvl="1"/>
            <a:endParaRPr lang="en-US" altLang="zh-TW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Machine learns to play video games as human players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What machine observes is pixels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Machine learns to take proper action itself</a:t>
            </a:r>
            <a:endParaRPr lang="zh-TW" altLang="en-US" sz="1200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pPr lvl="1"/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09E6A-ABDF-4E16-B6CE-071B50FB0C3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5905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BD5326-02B9-4847-966E-3D3580519B6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863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BD5326-02B9-4847-966E-3D3580519B6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617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BD5326-02B9-4847-966E-3D3580519B60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5275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3863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931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411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7240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069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8357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8347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3411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69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048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171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3439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249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716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CN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CN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CN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942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26441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3751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C681BB7-BED9-43EC-87D1-A05B764B7C97}" type="datetimeFigureOut">
              <a:rPr lang="zh-TW" altLang="en-US" smtClean="0"/>
              <a:t>2023/5/25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FACD0EE-6CDE-4B0C-834D-1DC9DAFD9B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9740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3"/>
          <p:cNvSpPr txBox="1">
            <a:spLocks noChangeArrowheads="1"/>
          </p:cNvSpPr>
          <p:nvPr/>
        </p:nvSpPr>
        <p:spPr>
          <a:xfrm>
            <a:off x="2077878" y="4626657"/>
            <a:ext cx="4988240" cy="5024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Lecturer: </a:t>
            </a:r>
            <a:r>
              <a:rPr lang="en-US" altLang="zh-CN" sz="30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Hao</a:t>
            </a:r>
            <a:r>
              <a:rPr lang="en-US" altLang="zh-CN" sz="3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0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Xiong</a:t>
            </a:r>
            <a:endParaRPr lang="zh-CN" altLang="en-US" sz="3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-1" y="1733966"/>
            <a:ext cx="9144001" cy="1423457"/>
          </a:xfrm>
          <a:prstGeom prst="rect">
            <a:avLst/>
          </a:prstGeom>
        </p:spPr>
        <p:txBody>
          <a:bodyPr wrap="square" lIns="68571" tIns="34285" rIns="68571" bIns="34285">
            <a:spAutoFit/>
          </a:bodyPr>
          <a:lstStyle/>
          <a:p>
            <a:pPr algn="ctr"/>
            <a:r>
              <a:rPr lang="en-US" altLang="zh-CN" sz="4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Machine Learning – </a:t>
            </a:r>
          </a:p>
          <a:p>
            <a:pPr algn="ctr"/>
            <a:r>
              <a:rPr lang="en-US" altLang="zh-CN" sz="4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Course Design</a:t>
            </a:r>
            <a:endParaRPr lang="en-US" altLang="zh-CN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9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utoUpdateAnimBg="0"/>
      <p:bldP spid="4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/>
              <a:t>Recall - Space </a:t>
            </a:r>
            <a:r>
              <a:rPr lang="en-US" altLang="zh-TW" dirty="0"/>
              <a:t>invader</a:t>
            </a:r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010" y="2700164"/>
            <a:ext cx="5701438" cy="3750240"/>
          </a:xfrm>
          <a:prstGeom prst="rect">
            <a:avLst/>
          </a:prstGeom>
        </p:spPr>
      </p:pic>
      <p:cxnSp>
        <p:nvCxnSpPr>
          <p:cNvPr id="6" name="直線單箭頭接點 5"/>
          <p:cNvCxnSpPr/>
          <p:nvPr/>
        </p:nvCxnSpPr>
        <p:spPr>
          <a:xfrm flipH="1">
            <a:off x="4754657" y="6153542"/>
            <a:ext cx="58057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5741628" y="6153542"/>
            <a:ext cx="58057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5179806" y="5810789"/>
            <a:ext cx="753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fire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89096" y="2544900"/>
            <a:ext cx="18180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Score (reward)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24487" y="3744287"/>
            <a:ext cx="15472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Kill the aliens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04903" y="1674440"/>
            <a:ext cx="4634593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Termination: all the aliens are killed, or your spaceship is destroyed.</a:t>
            </a:r>
            <a:endParaRPr lang="zh-TW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3421786" y="3220935"/>
            <a:ext cx="3399928" cy="188809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2368866" y="2778878"/>
            <a:ext cx="2385791" cy="41302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/>
          <p:cNvCxnSpPr>
            <a:stCxn id="12" idx="1"/>
          </p:cNvCxnSpPr>
          <p:nvPr/>
        </p:nvCxnSpPr>
        <p:spPr>
          <a:xfrm flipH="1">
            <a:off x="1698171" y="4164981"/>
            <a:ext cx="1723615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1698171" y="2960399"/>
            <a:ext cx="670696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35757" y="5417740"/>
            <a:ext cx="923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shield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cxnSp>
        <p:nvCxnSpPr>
          <p:cNvPr id="17" name="直線單箭頭接點 16"/>
          <p:cNvCxnSpPr/>
          <p:nvPr/>
        </p:nvCxnSpPr>
        <p:spPr>
          <a:xfrm flipH="1">
            <a:off x="1659409" y="5648572"/>
            <a:ext cx="1902352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686387" y="5451779"/>
            <a:ext cx="2917613" cy="427625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6059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1" t="10299" r="21355" b="10720"/>
          <a:stretch/>
        </p:blipFill>
        <p:spPr>
          <a:xfrm>
            <a:off x="4704739" y="1687557"/>
            <a:ext cx="4073235" cy="494445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/>
              <a:t>Course Design </a:t>
            </a:r>
            <a:r>
              <a:rPr lang="en-US" altLang="zh-TW" dirty="0" smtClean="0"/>
              <a:t>– Save the Prey</a:t>
            </a:r>
            <a:endParaRPr lang="en-US" altLang="zh-TW" dirty="0"/>
          </a:p>
        </p:txBody>
      </p:sp>
      <p:cxnSp>
        <p:nvCxnSpPr>
          <p:cNvPr id="7" name="直線單箭頭接點 6"/>
          <p:cNvCxnSpPr/>
          <p:nvPr/>
        </p:nvCxnSpPr>
        <p:spPr>
          <a:xfrm flipH="1" flipV="1">
            <a:off x="7727950" y="2699922"/>
            <a:ext cx="445647" cy="60890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6915211" y="2127211"/>
            <a:ext cx="170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smtClean="0">
                <a:solidFill>
                  <a:srgbClr val="FF0000"/>
                </a:solidFill>
              </a:rPr>
              <a:t>Acceleration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115038" y="2807294"/>
            <a:ext cx="779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smtClean="0">
                <a:solidFill>
                  <a:srgbClr val="0000FF"/>
                </a:solidFill>
              </a:rPr>
              <a:t>Prey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95470" y="1687557"/>
            <a:ext cx="1903450" cy="264606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2894511" y="3043324"/>
            <a:ext cx="1723615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785710" y="5691877"/>
            <a:ext cx="12747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0000FF"/>
                </a:solidFill>
              </a:rPr>
              <a:t>Predator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cxnSp>
        <p:nvCxnSpPr>
          <p:cNvPr id="17" name="直線單箭頭接點 16"/>
          <p:cNvCxnSpPr/>
          <p:nvPr/>
        </p:nvCxnSpPr>
        <p:spPr>
          <a:xfrm flipH="1">
            <a:off x="3014162" y="5922709"/>
            <a:ext cx="1902352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5006340" y="5334001"/>
            <a:ext cx="1402080" cy="115062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075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 animBg="1"/>
      <p:bldP spid="14" grpId="0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7"/>
          <a:stretch/>
        </p:blipFill>
        <p:spPr>
          <a:xfrm>
            <a:off x="3995058" y="1883183"/>
            <a:ext cx="4808506" cy="476487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/>
              <a:t>Course Design </a:t>
            </a:r>
            <a:r>
              <a:rPr lang="en-US" altLang="zh-TW" dirty="0" smtClean="0"/>
              <a:t>– Save the Prey</a:t>
            </a:r>
            <a:endParaRPr lang="en-US" altLang="zh-TW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970317" y="3183843"/>
            <a:ext cx="1468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smtClean="0">
                <a:solidFill>
                  <a:srgbClr val="0000FF"/>
                </a:solidFill>
              </a:rPr>
              <a:t>Obstacle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84042" y="1930815"/>
            <a:ext cx="3683417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Termination: </a:t>
            </a:r>
            <a:r>
              <a:rPr lang="en-US" altLang="zh-TW" sz="2400" dirty="0" smtClean="0"/>
              <a:t>the </a:t>
            </a:r>
            <a:r>
              <a:rPr lang="en-US" altLang="zh-TW" sz="2400" dirty="0" smtClean="0"/>
              <a:t>prey reaches a shelter or gets caught.</a:t>
            </a:r>
            <a:endParaRPr lang="zh-TW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5257800" y="3163069"/>
            <a:ext cx="598713" cy="54896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/>
          <p:cNvCxnSpPr/>
          <p:nvPr/>
        </p:nvCxnSpPr>
        <p:spPr>
          <a:xfrm flipH="1">
            <a:off x="3438798" y="3419873"/>
            <a:ext cx="1723615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687831" y="5273733"/>
            <a:ext cx="10342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0000FF"/>
                </a:solidFill>
              </a:rPr>
              <a:t>Shelter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cxnSp>
        <p:nvCxnSpPr>
          <p:cNvPr id="17" name="直線單箭頭接點 16"/>
          <p:cNvCxnSpPr/>
          <p:nvPr/>
        </p:nvCxnSpPr>
        <p:spPr>
          <a:xfrm flipH="1">
            <a:off x="2916283" y="5504565"/>
            <a:ext cx="1902352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916515" y="5195258"/>
            <a:ext cx="559000" cy="56191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410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14" grpId="0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smtClean="0"/>
              <a:t>Course Design </a:t>
            </a:r>
            <a:r>
              <a:rPr lang="en-US" altLang="zh-TW" dirty="0" smtClean="0"/>
              <a:t>– Save the Prey</a:t>
            </a:r>
            <a:endParaRPr lang="en-US" altLang="zh-TW" dirty="0"/>
          </a:p>
        </p:txBody>
      </p:sp>
      <p:sp>
        <p:nvSpPr>
          <p:cNvPr id="13" name="文字方塊 2">
            <a:extLst>
              <a:ext uri="{FF2B5EF4-FFF2-40B4-BE49-F238E27FC236}">
                <a16:creationId xmlns:a16="http://schemas.microsoft.com/office/drawing/2014/main" id="{24DDBADF-5B39-46A3-AD7D-FA85A600AFA2}"/>
              </a:ext>
            </a:extLst>
          </p:cNvPr>
          <p:cNvSpPr txBox="1"/>
          <p:nvPr/>
        </p:nvSpPr>
        <p:spPr>
          <a:xfrm>
            <a:off x="1" y="2137773"/>
            <a:ext cx="91439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Input – Image of the 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Output – Bounded acceleration of the prey in 2D space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Targets – 1) Avoid obstacles; 2) </a:t>
            </a:r>
            <a:r>
              <a:rPr lang="en-US" altLang="zh-CN" sz="2800" dirty="0"/>
              <a:t>Avoid </a:t>
            </a:r>
            <a:r>
              <a:rPr lang="en-US" altLang="zh-CN" sz="2800" dirty="0" smtClean="0"/>
              <a:t>the predator; and 3) Reach a shelter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Initial state – The prey, predator, and shelter have random locations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253768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226EBD-07EF-49D2-A078-E07EA63E9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>
                <a:ea typeface="微軟正黑體" panose="020B0604030504040204" pitchFamily="34" charset="-120"/>
              </a:rPr>
              <a:t>Rules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4DDBADF-5B39-46A3-AD7D-FA85A600AFA2}"/>
              </a:ext>
            </a:extLst>
          </p:cNvPr>
          <p:cNvSpPr txBox="1"/>
          <p:nvPr/>
        </p:nvSpPr>
        <p:spPr>
          <a:xfrm>
            <a:off x="1" y="2137773"/>
            <a:ext cx="9144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Apply at least one </a:t>
            </a:r>
            <a:r>
              <a:rPr lang="en-US" altLang="zh-CN" sz="2800" dirty="0"/>
              <a:t>Machine </a:t>
            </a:r>
            <a:r>
              <a:rPr lang="en-US" altLang="zh-CN" sz="2800" dirty="0" smtClean="0"/>
              <a:t>Learning technique.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Learn a model that can control the prey </a:t>
            </a:r>
            <a:r>
              <a:rPr lang="en-US" altLang="zh-CN" sz="2800" dirty="0"/>
              <a:t>to reach </a:t>
            </a:r>
            <a:r>
              <a:rPr lang="en-US" altLang="zh-CN" sz="2800" dirty="0" smtClean="0"/>
              <a:t>a shelter safely.</a:t>
            </a:r>
          </a:p>
        </p:txBody>
      </p:sp>
    </p:spTree>
    <p:extLst>
      <p:ext uri="{BB962C8B-B14F-4D97-AF65-F5344CB8AC3E}">
        <p14:creationId xmlns:p14="http://schemas.microsoft.com/office/powerpoint/2010/main" val="214414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226EBD-07EF-49D2-A078-E07EA63E9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>
                <a:ea typeface="微軟正黑體" panose="020B0604030504040204" pitchFamily="34" charset="-120"/>
              </a:rPr>
              <a:t>Rules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4DDBADF-5B39-46A3-AD7D-FA85A600AFA2}"/>
              </a:ext>
            </a:extLst>
          </p:cNvPr>
          <p:cNvSpPr txBox="1"/>
          <p:nvPr/>
        </p:nvSpPr>
        <p:spPr>
          <a:xfrm>
            <a:off x="1" y="2137773"/>
            <a:ext cx="914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The total score for the course design is 100 points.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A group can achieve 80 points, if a learned model can input the image of the environment and control the prey to 1) avoid obstacles; 2) avoid the predator; and 3</a:t>
            </a:r>
            <a:r>
              <a:rPr lang="en-US" altLang="zh-CN" sz="2800" dirty="0"/>
              <a:t>) reach the </a:t>
            </a:r>
            <a:r>
              <a:rPr lang="en-US" altLang="zh-CN" sz="2800" dirty="0" smtClean="0"/>
              <a:t>shelter.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A group can achieve 10 to 20 points, if an interesting presentation and creative ideas are provided.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9422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226EBD-07EF-49D2-A078-E07EA63E9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>
                <a:ea typeface="微軟正黑體" panose="020B0604030504040204" pitchFamily="34" charset="-120"/>
              </a:rPr>
              <a:t>Rules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4DDBADF-5B39-46A3-AD7D-FA85A600AFA2}"/>
              </a:ext>
            </a:extLst>
          </p:cNvPr>
          <p:cNvSpPr txBox="1"/>
          <p:nvPr/>
        </p:nvSpPr>
        <p:spPr>
          <a:xfrm>
            <a:off x="1" y="2137773"/>
            <a:ext cx="914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If a model needs to input the state of the environment, you will lose 30 points.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If a model </a:t>
            </a:r>
            <a:r>
              <a:rPr lang="en-US" altLang="zh-CN" sz="2800" dirty="0" smtClean="0"/>
              <a:t>fails to avoid obstacles, </a:t>
            </a:r>
            <a:r>
              <a:rPr lang="en-US" altLang="zh-CN" sz="2800" dirty="0"/>
              <a:t>you will lose 20 points</a:t>
            </a:r>
            <a:r>
              <a:rPr lang="en-US" altLang="zh-CN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If a model fails to avoid the predator, you will lose </a:t>
            </a:r>
            <a:r>
              <a:rPr lang="en-US" altLang="zh-CN" sz="2800" dirty="0" smtClean="0"/>
              <a:t>10 </a:t>
            </a:r>
            <a:r>
              <a:rPr lang="en-US" altLang="zh-CN" sz="2800" dirty="0"/>
              <a:t>points.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If a model fails to </a:t>
            </a:r>
            <a:r>
              <a:rPr lang="en-US" altLang="zh-CN" sz="2800" dirty="0" smtClean="0"/>
              <a:t>reach the shelter, </a:t>
            </a:r>
            <a:r>
              <a:rPr lang="en-US" altLang="zh-CN" sz="2800" dirty="0"/>
              <a:t>you will lose 20 points</a:t>
            </a:r>
            <a:r>
              <a:rPr lang="en-US" altLang="zh-CN" sz="2800" dirty="0" smtClean="0"/>
              <a:t>.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4525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1447</TotalTime>
  <Words>452</Words>
  <Application>Microsoft Office PowerPoint</Application>
  <PresentationFormat>On-screen Show (4:3)</PresentationFormat>
  <Paragraphs>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微軟正黑體</vt:lpstr>
      <vt:lpstr>新細明體</vt:lpstr>
      <vt:lpstr>等线</vt:lpstr>
      <vt:lpstr>宋体</vt:lpstr>
      <vt:lpstr>微软雅黑</vt:lpstr>
      <vt:lpstr>Arial</vt:lpstr>
      <vt:lpstr>Calibri</vt:lpstr>
      <vt:lpstr>Tw Cen MT</vt:lpstr>
      <vt:lpstr>Droplet</vt:lpstr>
      <vt:lpstr>PowerPoint Presentation</vt:lpstr>
      <vt:lpstr>Recall - Space invader</vt:lpstr>
      <vt:lpstr>Course Design – Save the Prey</vt:lpstr>
      <vt:lpstr>Course Design – Save the Prey</vt:lpstr>
      <vt:lpstr>Course Design – Save the Prey</vt:lpstr>
      <vt:lpstr>Rules</vt:lpstr>
      <vt:lpstr>Rules</vt:lpstr>
      <vt:lpstr>Rules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</dc:title>
  <dc:creator/>
  <cp:lastModifiedBy>Hao Xiong</cp:lastModifiedBy>
  <cp:revision>58</cp:revision>
  <dcterms:created xsi:type="dcterms:W3CDTF">2022-02-12T07:53:59Z</dcterms:created>
  <dcterms:modified xsi:type="dcterms:W3CDTF">2023-05-25T04:54:03Z</dcterms:modified>
</cp:coreProperties>
</file>